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4"/>
    <p:sldMasterId id="214748371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Black"/>
      <p:bold r:id="rId25"/>
      <p:boldItalic r:id="rId26"/>
    </p:embeddedFont>
    <p:embeddedFont>
      <p:font typeface="Frank Ruhl Libre"/>
      <p:regular r:id="rId27"/>
      <p:bold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Montserrat ExtraBold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Black-boldItalic.fntdata"/><Relationship Id="rId25" Type="http://schemas.openxmlformats.org/officeDocument/2006/relationships/font" Target="fonts/MontserratBlack-bold.fntdata"/><Relationship Id="rId28" Type="http://schemas.openxmlformats.org/officeDocument/2006/relationships/font" Target="fonts/FrankRuhlLibre-bold.fntdata"/><Relationship Id="rId27" Type="http://schemas.openxmlformats.org/officeDocument/2006/relationships/font" Target="fonts/FrankRuhlLibr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37" Type="http://schemas.openxmlformats.org/officeDocument/2006/relationships/font" Target="fonts/MontserratExtraBold-bold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Italic.fntdata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ExtraBold-boldItalic.fntdata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293c95fb7_2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293c95fb7_2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34178b2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34178b2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34178b22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34178b22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34178b22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934178b22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34178b22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934178b22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34178b22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34178b22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34178b22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34178b22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34178b22b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934178b22b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34178b22b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34178b22b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34178b22b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934178b22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g"/><Relationship Id="rId3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g"/><Relationship Id="rId3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jp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jpg"/><Relationship Id="rId3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jpg"/><Relationship Id="rId3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jpg"/><Relationship Id="rId3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8.jpg"/><Relationship Id="rId3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jpg"/><Relationship Id="rId3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9.jpg"/><Relationship Id="rId3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6.jpg"/><Relationship Id="rId3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Relationship Id="rId3" Type="http://schemas.openxmlformats.org/officeDocument/2006/relationships/image" Target="../media/image1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67" l="308" r="327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2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14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descr=" "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_1">
    <p:bg>
      <p:bgPr>
        <a:solidFill>
          <a:srgbClr val="57068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th NYU header">
  <p:cSld name="SECTION_HEADER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2">
    <p:bg>
      <p:bgPr>
        <a:solidFill>
          <a:srgbClr val="22033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23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30" name="Google Shape;130;p23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2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34" name="Google Shape;1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6" name="Google Shape;136;p24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41" name="Google Shape;14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" name="Google Shape;143;p25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4" name="Google Shape;144;p2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MAIN_POINT_2"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53" name="Google Shape;15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27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2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AND_TWO_COLUMNS_4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60" name="Google Shape;16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2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3">
  <p:cSld name="MAIN_POINT_3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4">
  <p:cSld name="MAIN_POINT_4"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TITLE_AND_TWO_COLUMNS_5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77" name="Google Shape;17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9" name="Google Shape;179;p31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0" name="Google Shape;180;p3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88" name="Google Shape;1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94" name="Google Shape;1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6" name="Google Shape;196;p3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00" name="Google Shape;2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06" name="Google Shape;2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6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211" name="Google Shape;211;p37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212" name="Google Shape;2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17" name="Google Shape;217;p38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19" name="Google Shape;21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23" name="Google Shape;22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39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6" name="Google Shape;226;p3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30" name="Google Shape;230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236" name="Google Shape;23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2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42" name="Google Shape;2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245" name="Google Shape;245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3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7" name="Google Shape;247;p43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8" name="Google Shape;248;p43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249" name="Google Shape;24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2" name="Google Shape;25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55" name="Google Shape;255;p4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6" name="Google Shape;25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8" name="Google Shape;25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45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5" name="Google Shape;265;p4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66" name="Google Shape;266;p4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2" name="Google Shape;272;p4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73" name="Google Shape;273;p4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4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8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9" name="Google Shape;279;p48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80" name="Google Shape;280;p48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4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285" name="Google Shape;28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49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88" name="Google Shape;28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0" name="Google Shape;29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5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bg>
      <p:bgPr>
        <a:solidFill>
          <a:srgbClr val="220337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3"/>
          <p:cNvSpPr/>
          <p:nvPr>
            <p:ph idx="2" type="pic"/>
          </p:nvPr>
        </p:nvSpPr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3" name="Google Shape;303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4" name="Google Shape;30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7" name="Google Shape;307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8" name="Google Shape;30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th NYU header">
  <p:cSld name="SECTION_HEADER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7"/>
          <p:cNvSpPr txBox="1"/>
          <p:nvPr>
            <p:ph idx="1" type="body"/>
          </p:nvPr>
        </p:nvSpPr>
        <p:spPr>
          <a:xfrm>
            <a:off x="501800" y="1079674"/>
            <a:ext cx="8315700" cy="3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57"/>
          <p:cNvSpPr txBox="1"/>
          <p:nvPr>
            <p:ph idx="2" type="body"/>
          </p:nvPr>
        </p:nvSpPr>
        <p:spPr>
          <a:xfrm>
            <a:off x="6176711" y="228989"/>
            <a:ext cx="2740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57"/>
          <p:cNvSpPr txBox="1"/>
          <p:nvPr>
            <p:ph idx="10" type="dt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57"/>
          <p:cNvSpPr txBox="1"/>
          <p:nvPr>
            <p:ph idx="12" type="sldNum"/>
          </p:nvPr>
        </p:nvSpPr>
        <p:spPr>
          <a:xfrm>
            <a:off x="6553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8" name="Google Shape;318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9" name="Google Shape;31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2" name="Google Shape;322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3" name="Google Shape;32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_1">
  <p:cSld name="TITLE_2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6" name="Google Shape;326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" name="Google Shape;32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1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330" name="Google Shape;330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61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61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3" name="Google Shape;333;p6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4" name="Google Shape;33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rgbClr val="57068C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37" name="Google Shape;337;p62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38" name="Google Shape;33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2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0" name="Google Shape;340;p62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_7">
    <p:bg>
      <p:bgPr>
        <a:solidFill>
          <a:srgbClr val="F3F3F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3"/>
          <p:cNvSpPr txBox="1"/>
          <p:nvPr>
            <p:ph type="title"/>
          </p:nvPr>
        </p:nvSpPr>
        <p:spPr>
          <a:xfrm>
            <a:off x="1811655" y="4509135"/>
            <a:ext cx="55206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2000"/>
              <a:buFont typeface="Gill Sans"/>
              <a:buNone/>
              <a:defRPr sz="2000">
                <a:solidFill>
                  <a:srgbClr val="53281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43" name="Google Shape;343;p63"/>
          <p:cNvSpPr txBox="1"/>
          <p:nvPr>
            <p:ph idx="1" type="body"/>
          </p:nvPr>
        </p:nvSpPr>
        <p:spPr>
          <a:xfrm>
            <a:off x="1811655" y="4766310"/>
            <a:ext cx="55206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1200"/>
              <a:buFont typeface="Gill Sans"/>
              <a:buNone/>
              <a:defRPr sz="1200">
                <a:solidFill>
                  <a:srgbClr val="532813"/>
                </a:solidFill>
              </a:defRPr>
            </a:lvl1pPr>
            <a:lvl2pPr indent="-228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1200"/>
              <a:buFont typeface="Gill Sans"/>
              <a:buNone/>
              <a:defRPr sz="1200">
                <a:solidFill>
                  <a:srgbClr val="532813"/>
                </a:solidFill>
              </a:defRPr>
            </a:lvl2pPr>
            <a:lvl3pPr indent="-228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1200"/>
              <a:buFont typeface="Gill Sans"/>
              <a:buNone/>
              <a:defRPr sz="1200">
                <a:solidFill>
                  <a:srgbClr val="532813"/>
                </a:solidFill>
              </a:defRPr>
            </a:lvl3pPr>
            <a:lvl4pPr indent="-228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1200"/>
              <a:buFont typeface="Gill Sans"/>
              <a:buNone/>
              <a:defRPr sz="1200">
                <a:solidFill>
                  <a:srgbClr val="532813"/>
                </a:solidFill>
              </a:defRPr>
            </a:lvl4pPr>
            <a:lvl5pPr indent="-228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813"/>
              </a:buClr>
              <a:buSzPts val="1200"/>
              <a:buFont typeface="Gill Sans"/>
              <a:buNone/>
              <a:defRPr sz="1200">
                <a:solidFill>
                  <a:srgbClr val="532813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63"/>
          <p:cNvSpPr txBox="1"/>
          <p:nvPr>
            <p:ph idx="12" type="sldNum"/>
          </p:nvPr>
        </p:nvSpPr>
        <p:spPr>
          <a:xfrm>
            <a:off x="4496276" y="4908575"/>
            <a:ext cx="151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25725" spcFirstLastPara="1" rIns="25725" wrap="square" tIns="257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_2">
    <p:bg>
      <p:bgPr>
        <a:solidFill>
          <a:srgbClr val="57068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7" name="Google Shape;347;p64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48" name="Google Shape;34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64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0" name="Google Shape;350;p64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3">
    <p:bg>
      <p:bgPr>
        <a:solidFill>
          <a:srgbClr val="57068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53" name="Google Shape;353;p65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4" name="Google Shape;35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5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6" name="Google Shape;356;p65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6"/>
          <p:cNvSpPr txBox="1"/>
          <p:nvPr>
            <p:ph idx="12" type="sldNum"/>
          </p:nvPr>
        </p:nvSpPr>
        <p:spPr>
          <a:xfrm>
            <a:off x="4496276" y="4922520"/>
            <a:ext cx="151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25725" spcFirstLastPara="1" rIns="25725" wrap="square" tIns="257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ill Sans"/>
              <a:buNone/>
              <a:defRPr sz="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AND_TWO_COLUMNS_4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7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361" name="Google Shape;361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7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67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4" name="Google Shape;364;p6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5" name="Google Shape;36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8"/>
          <p:cNvSpPr txBox="1"/>
          <p:nvPr>
            <p:ph type="title"/>
          </p:nvPr>
        </p:nvSpPr>
        <p:spPr>
          <a:xfrm>
            <a:off x="102870" y="102394"/>
            <a:ext cx="8904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6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69" name="Google Shape;369;p68"/>
          <p:cNvSpPr txBox="1"/>
          <p:nvPr>
            <p:ph idx="12" type="sldNum"/>
          </p:nvPr>
        </p:nvSpPr>
        <p:spPr>
          <a:xfrm>
            <a:off x="8595360" y="4767263"/>
            <a:ext cx="54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59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42.xml"/><Relationship Id="rId3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45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sz="3600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p.nyu.edu/2025notebooklm/" TargetMode="External"/><Relationship Id="rId4" Type="http://schemas.openxmlformats.org/officeDocument/2006/relationships/image" Target="../media/image47.png"/><Relationship Id="rId5" Type="http://schemas.openxmlformats.org/officeDocument/2006/relationships/hyperlink" Target="https://wp.nyu.edu/2025notebookl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69" title="[Oct 16, 2025] Generative AI Symposium hires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301" y="227934"/>
            <a:ext cx="7687392" cy="431674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69"/>
          <p:cNvSpPr txBox="1"/>
          <p:nvPr/>
        </p:nvSpPr>
        <p:spPr>
          <a:xfrm>
            <a:off x="801675" y="4544675"/>
            <a:ext cx="76491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25" lIns="64825" spcFirstLastPara="1" rIns="64825" wrap="square" tIns="648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Video Archives @ </a:t>
            </a:r>
            <a:r>
              <a:rPr b="1" lang="en" sz="2400" u="sng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wp.nyu.edu/2025notebooklm</a:t>
            </a:r>
            <a:endParaRPr b="1" sz="240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0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17 Featured Use Cases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1" name="Google Shape;381;p70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70"/>
          <p:cNvSpPr txBox="1"/>
          <p:nvPr>
            <p:ph idx="1" type="body"/>
          </p:nvPr>
        </p:nvSpPr>
        <p:spPr>
          <a:xfrm>
            <a:off x="310900" y="1539238"/>
            <a:ext cx="81864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Font typeface="Montserrat Medium"/>
              <a:buChar char="➔"/>
            </a:pPr>
            <a:r>
              <a:rPr b="1" lang="en" sz="1800">
                <a:solidFill>
                  <a:srgbClr val="351C75"/>
                </a:solidFill>
              </a:rPr>
              <a:t>8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NotebookLM Use Cases for </a:t>
            </a:r>
            <a:r>
              <a:rPr b="1" lang="en" sz="1800">
                <a:solidFill>
                  <a:srgbClr val="351C75"/>
                </a:solidFill>
              </a:rPr>
              <a:t>Teaching</a:t>
            </a:r>
            <a:endParaRPr b="1" sz="1800">
              <a:solidFill>
                <a:srgbClr val="351C75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351C75"/>
              </a:buClr>
              <a:buSzPts val="1800"/>
              <a:buFont typeface="Montserrat Medium"/>
              <a:buChar char="➔"/>
            </a:pPr>
            <a:r>
              <a:rPr b="1" lang="en" sz="1800">
                <a:solidFill>
                  <a:srgbClr val="351C75"/>
                </a:solidFill>
              </a:rPr>
              <a:t>4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NotebookLM Use Cases for </a:t>
            </a:r>
            <a:r>
              <a:rPr b="1" lang="en" sz="1800">
                <a:solidFill>
                  <a:srgbClr val="351C75"/>
                </a:solidFill>
              </a:rPr>
              <a:t>Academic Operations</a:t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351C75"/>
              </a:buClr>
              <a:buSzPts val="1800"/>
              <a:buFont typeface="Montserrat Medium"/>
              <a:buChar char="➔"/>
            </a:pPr>
            <a:r>
              <a:rPr b="1" lang="en" sz="1800">
                <a:solidFill>
                  <a:srgbClr val="351C75"/>
                </a:solidFill>
              </a:rPr>
              <a:t>3</a:t>
            </a:r>
            <a:r>
              <a:rPr b="1" lang="en" sz="1800">
                <a:solidFill>
                  <a:srgbClr val="351C75"/>
                </a:solidFill>
              </a:rPr>
              <a:t> 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NotebookLM Use Cases as a </a:t>
            </a:r>
            <a:r>
              <a:rPr b="1" lang="en" sz="1800">
                <a:solidFill>
                  <a:srgbClr val="351C75"/>
                </a:solidFill>
              </a:rPr>
              <a:t>Research Partner</a:t>
            </a:r>
            <a:endParaRPr b="1" sz="1800">
              <a:solidFill>
                <a:srgbClr val="351C75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351C75"/>
              </a:buClr>
              <a:buSzPts val="1800"/>
              <a:buFont typeface="Montserrat Medium"/>
              <a:buChar char="➔"/>
            </a:pPr>
            <a:r>
              <a:rPr b="1" lang="en" sz="1800">
                <a:solidFill>
                  <a:srgbClr val="351C75"/>
                </a:solidFill>
              </a:rPr>
              <a:t>2 Studying</a:t>
            </a:r>
            <a:r>
              <a:rPr lang="en" sz="1800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NotebookLM Student Use Cases</a:t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83" name="Google Shape;383;p70"/>
          <p:cNvCxnSpPr/>
          <p:nvPr/>
        </p:nvCxnSpPr>
        <p:spPr>
          <a:xfrm>
            <a:off x="418229" y="969750"/>
            <a:ext cx="457200" cy="510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1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for Teaching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9" name="Google Shape;389;p71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0" name="Google Shape;390;p71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71"/>
          <p:cNvSpPr txBox="1"/>
          <p:nvPr>
            <p:ph idx="1" type="body"/>
          </p:nvPr>
        </p:nvSpPr>
        <p:spPr>
          <a:xfrm>
            <a:off x="6201300" y="1506050"/>
            <a:ext cx="2590500" cy="29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Analyzing Student Feedback Data Using NotebookLM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Craig Kapp</a:t>
            </a: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NYU Courant Institute of Mathematical Sciences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Clinical Professor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92" name="Google Shape;392;p71" title="Screenshot 2026-02-01 at 10.0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" y="1354552"/>
            <a:ext cx="5650994" cy="3788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2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for Teaching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8" name="Google Shape;398;p72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9" name="Google Shape;399;p72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72"/>
          <p:cNvSpPr txBox="1"/>
          <p:nvPr>
            <p:ph idx="1" type="body"/>
          </p:nvPr>
        </p:nvSpPr>
        <p:spPr>
          <a:xfrm>
            <a:off x="310900" y="1143010"/>
            <a:ext cx="81864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Other Featured Use Cases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Streamlining Navigation of Complex Readings in Graduate Seminars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Supporting Capstone Projects with a Resource Guide from the Library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Counteracting Confirmation-Based Reading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Identifying Common Student Mistakes and Recurring Feedback Patterns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Developing Lecture Materials and Shared Resources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Organizing and Assessing Historical Information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Teaching Students to Use the Tool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3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for Administration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06" name="Google Shape;406;p73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7" name="Google Shape;407;p73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73"/>
          <p:cNvSpPr txBox="1"/>
          <p:nvPr>
            <p:ph idx="1" type="body"/>
          </p:nvPr>
        </p:nvSpPr>
        <p:spPr>
          <a:xfrm>
            <a:off x="6201300" y="1285613"/>
            <a:ext cx="2473200" cy="29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NotebookLM to Support Academic Program Revisions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Negar Farakish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, NYU SPS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Asst. Dean, Division of Programs in Business &amp; Clinical Associate Prof.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Paul Goncalves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, NYU SPS Admin. Director of Mgt. &amp; Technology Programs</a:t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09" name="Google Shape;409;p73" title="Screenshot 2026-02-01 at 9.57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00" y="1444752"/>
            <a:ext cx="5650992" cy="2677273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4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for Administration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5" name="Google Shape;415;p74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6" name="Google Shape;416;p74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74"/>
          <p:cNvSpPr txBox="1"/>
          <p:nvPr>
            <p:ph idx="1" type="body"/>
          </p:nvPr>
        </p:nvSpPr>
        <p:spPr>
          <a:xfrm>
            <a:off x="310900" y="1143010"/>
            <a:ext cx="81864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Other Featured Use Cases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Building Interactive Academic Policies and Governance Chatbots</a:t>
            </a:r>
            <a:b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Managing Administrative Handbooks, and Faculty Resources</a:t>
            </a:r>
            <a:b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E0E0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Data-Driven Auditing of the Applicant Screening Process</a:t>
            </a:r>
            <a:endParaRPr sz="1600">
              <a:solidFill>
                <a:srgbClr val="0E0E0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5"/>
          <p:cNvSpPr txBox="1"/>
          <p:nvPr>
            <p:ph type="title"/>
          </p:nvPr>
        </p:nvSpPr>
        <p:spPr>
          <a:xfrm>
            <a:off x="310900" y="338325"/>
            <a:ext cx="88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as a Research Partner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23" name="Google Shape;423;p75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4" name="Google Shape;424;p75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75"/>
          <p:cNvSpPr txBox="1"/>
          <p:nvPr>
            <p:ph idx="1" type="body"/>
          </p:nvPr>
        </p:nvSpPr>
        <p:spPr>
          <a:xfrm>
            <a:off x="6201300" y="1506038"/>
            <a:ext cx="2473200" cy="29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NotebookLM As A Research Tool For An Intro To Public Policy Course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Thom Blaylock </a:t>
            </a:r>
            <a:br>
              <a:rPr lang="en"/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NYU Wagner 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Clinical Professor of Public Service</a:t>
            </a:r>
            <a:endParaRPr sz="1000">
              <a:solidFill>
                <a:srgbClr val="000000"/>
              </a:solidFill>
              <a:highlight>
                <a:srgbClr val="F5F4F7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5F4F7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26" name="Google Shape;426;p75" title="Screenshot 2026-02-01 at 9.46.31 PM.png"/>
          <p:cNvPicPr preferRelativeResize="0"/>
          <p:nvPr/>
        </p:nvPicPr>
        <p:blipFill rotWithShape="1">
          <a:blip r:embed="rId3">
            <a:alphaModFix/>
          </a:blip>
          <a:srcRect b="0" l="0" r="1039" t="4232"/>
          <a:stretch/>
        </p:blipFill>
        <p:spPr>
          <a:xfrm>
            <a:off x="310900" y="1579675"/>
            <a:ext cx="5592523" cy="3051875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6"/>
          <p:cNvSpPr txBox="1"/>
          <p:nvPr>
            <p:ph type="title"/>
          </p:nvPr>
        </p:nvSpPr>
        <p:spPr>
          <a:xfrm>
            <a:off x="310900" y="338325"/>
            <a:ext cx="88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NotebookLM as a Research Partner</a:t>
            </a:r>
            <a:endParaRPr sz="36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32" name="Google Shape;432;p76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3" name="Google Shape;433;p76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76"/>
          <p:cNvSpPr txBox="1"/>
          <p:nvPr>
            <p:ph idx="1" type="body"/>
          </p:nvPr>
        </p:nvSpPr>
        <p:spPr>
          <a:xfrm>
            <a:off x="310900" y="1143010"/>
            <a:ext cx="81864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Other Featured Use Cases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Extracting and Representing Data from PDFs</a:t>
            </a:r>
            <a:br>
              <a:rPr lang="en" sz="1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➔"/>
            </a:pPr>
            <a:r>
              <a:rPr lang="en" sz="1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Comparing Multilingual Sources from Different Cultural Policies</a:t>
            </a:r>
            <a:endParaRPr sz="16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7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Studying with NotebookLM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0" name="Google Shape;440;p77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77"/>
          <p:cNvSpPr txBox="1"/>
          <p:nvPr>
            <p:ph idx="1" type="body"/>
          </p:nvPr>
        </p:nvSpPr>
        <p:spPr>
          <a:xfrm>
            <a:off x="6201300" y="1506038"/>
            <a:ext cx="2473200" cy="29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Personalized Study Guides &amp; Podcasts </a:t>
            </a:r>
            <a:br>
              <a:rPr b="1"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with NotebookLM</a:t>
            </a:r>
            <a:br>
              <a:rPr b="1" lang="en" sz="1800">
                <a:solidFill>
                  <a:schemeClr val="dk2"/>
                </a:solidFill>
              </a:rPr>
            </a:br>
            <a:b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Hanwen Zhang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NYU Arts and Science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BA, Computer Science and Data Science, ’26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5F4F7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42" name="Google Shape;442;p77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3" name="Google Shape;443;p77" title="Screenshot 2026-02-01 at 9.19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6" y="1444752"/>
            <a:ext cx="5650993" cy="311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8"/>
          <p:cNvSpPr txBox="1"/>
          <p:nvPr>
            <p:ph type="title"/>
          </p:nvPr>
        </p:nvSpPr>
        <p:spPr>
          <a:xfrm>
            <a:off x="310896" y="33832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ExtraBold"/>
                <a:ea typeface="Montserrat ExtraBold"/>
                <a:cs typeface="Montserrat ExtraBold"/>
                <a:sym typeface="Montserrat ExtraBold"/>
              </a:rPr>
              <a:t>Studying with NotebookLM</a:t>
            </a:r>
            <a:endParaRPr sz="360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9" name="Google Shape;449;p78"/>
          <p:cNvSpPr/>
          <p:nvPr/>
        </p:nvSpPr>
        <p:spPr>
          <a:xfrm>
            <a:off x="249700" y="4350625"/>
            <a:ext cx="1313100" cy="6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78"/>
          <p:cNvSpPr txBox="1"/>
          <p:nvPr>
            <p:ph idx="1" type="body"/>
          </p:nvPr>
        </p:nvSpPr>
        <p:spPr>
          <a:xfrm>
            <a:off x="6199632" y="1508760"/>
            <a:ext cx="2469000" cy="29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NotebookLM for Literature Reviews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George Wang </a:t>
            </a:r>
            <a:br>
              <a:rPr lang="en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NYU Steinhardt</a:t>
            </a:r>
            <a:br>
              <a:rPr lang="en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MA, Learning Technology Experience and Design (LTXD), ‘26</a:t>
            </a:r>
            <a:endParaRPr sz="1000">
              <a:solidFill>
                <a:srgbClr val="000000"/>
              </a:solidFill>
              <a:highlight>
                <a:srgbClr val="F5F4F7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451" name="Google Shape;451;p78"/>
          <p:cNvCxnSpPr/>
          <p:nvPr/>
        </p:nvCxnSpPr>
        <p:spPr>
          <a:xfrm>
            <a:off x="418229" y="969750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" name="Google Shape;452;p78" title="George Wang.png"/>
          <p:cNvPicPr preferRelativeResize="0"/>
          <p:nvPr/>
        </p:nvPicPr>
        <p:blipFill rotWithShape="1">
          <a:blip r:embed="rId3">
            <a:alphaModFix/>
          </a:blip>
          <a:srcRect b="1780" l="807" r="679" t="1441"/>
          <a:stretch/>
        </p:blipFill>
        <p:spPr>
          <a:xfrm>
            <a:off x="310900" y="1448975"/>
            <a:ext cx="5654302" cy="2901651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